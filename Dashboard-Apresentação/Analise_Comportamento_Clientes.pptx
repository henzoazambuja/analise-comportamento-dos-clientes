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Médio ($)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Express</c:v>
                  </c:pt>
                  <c:pt idx="1">
                    <c:v>Standard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60.48</c:v>
                </c:pt>
                <c:pt idx="1">
                  <c:v>58.46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Fiél (3.116)</c:v>
                </c:pt>
                <c:pt idx="1">
                  <c:v>Recorrente (701)</c:v>
                </c:pt>
                <c:pt idx="2">
                  <c:v>Novo (83)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Total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Comportamento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Compras dos Clientes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Padrões · Segmentação · Insights Estratégicos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188720"/>
            <a:ext cx="2011680" cy="82296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1207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0" y="1627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2286000"/>
            <a:ext cx="2011680" cy="82296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304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7249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3383280"/>
            <a:ext cx="2011680" cy="82296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401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3822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Análise de Dados  |  Python · SQL · Power 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PROJETO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0972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comportamento de compras de 3.900 clientes em diversas categorias de produtos, identificando padrões de gastos, segmentando clientes e entendendo preferências para apoiar decisões estratégicas de negócio.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0116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20116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Gastos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receita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perfil e categoria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20116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331720"/>
            <a:ext cx="20116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1460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34015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· Recorrentes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Fiéis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20116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331720"/>
            <a:ext cx="20116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6344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Preferências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4015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mais bem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avaliados e mais vendidos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2331720"/>
            <a:ext cx="20116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2331720"/>
            <a:ext cx="20116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1228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34015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receita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DADOS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560320" cy="1188720"/>
          </a:xfrm>
          <a:prstGeom prst="rect">
            <a:avLst/>
          </a:prstGeom>
          <a:solidFill>
            <a:srgbClr val="0D2B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804672"/>
            <a:ext cx="2560320" cy="1188720"/>
          </a:xfrm>
          <a:prstGeom prst="rect">
            <a:avLst/>
          </a:prstGeom>
          <a:solidFill>
            <a:srgbClr val="0D2B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822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2560320" cy="1188720"/>
          </a:xfrm>
          <a:prstGeom prst="rect">
            <a:avLst/>
          </a:prstGeom>
          <a:solidFill>
            <a:srgbClr val="0D2B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22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Ausentes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Rating)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76272"/>
            <a:ext cx="109728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311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Demográficos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· Gênero · Localização · Status de Assinatura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90672"/>
            <a:ext cx="109728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455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da Compra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4381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Categoria · Valor · Estação do Ano · Tamanho · Cor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05072"/>
            <a:ext cx="10972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599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525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· Código Promocional · Compras Anteriores · Frequência · Avaliação · Envio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COM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50292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Carregamento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4358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com pandas (df.info() e describe())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50292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9456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Ausentes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63347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nulos em Review Rating preenchidos com mediana por categoria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84448"/>
            <a:ext cx="50292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584448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6941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renomeadas para snake_case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80467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804672"/>
            <a:ext cx="50292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804672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914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Atributos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124358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 (faixa etária) · purchase_frequency_days (frequência em dias)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1945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194560"/>
            <a:ext cx="50292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19456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304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63347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 e promo_code_used redundantes → remoção de promo_code_used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58444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84448"/>
            <a:ext cx="502920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584448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6941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4023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para arquivo .db e análises realizadas em SQLite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POR GÊNERO  |  TIPO DE ENVIO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por Gênero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572000"/>
            <a:ext cx="4206240" cy="4114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572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gera 2,1× mais receita que Female  (R$157.890 vs R$75.191)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46320" y="749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por Tipo de Envio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54880" y="105156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754880" y="4572000"/>
            <a:ext cx="420624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4572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apresenta ticket médio $2,02 superior ao Standard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PRODUTOS AVALIADOS  |  DEPENDÊNCIA DE DESCONTO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Mais Bem Avaliados (Média)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32004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15568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2252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298448"/>
            <a:ext cx="1305946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195450" y="12435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65376"/>
            <a:ext cx="32004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65376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9751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2048256"/>
            <a:ext cx="129918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188684" y="19933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15184"/>
            <a:ext cx="32004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615184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249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798064"/>
            <a:ext cx="1292413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181917" y="27432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64992"/>
            <a:ext cx="32004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364992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3547872"/>
            <a:ext cx="1285646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175150" y="34930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14800"/>
            <a:ext cx="32004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1148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42245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34640" y="4297680"/>
            <a:ext cx="127888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168384" y="42428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Dependentes de Desconto (%)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1115568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115568"/>
            <a:ext cx="32004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1115568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12252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1298448"/>
            <a:ext cx="84582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7932420" y="124358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1865376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1865376"/>
            <a:ext cx="32004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1865376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38928" y="1975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40880" y="2048256"/>
            <a:ext cx="840068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7926668" y="1993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49.66%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2615184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2615184"/>
            <a:ext cx="32004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2615184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38928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040880" y="2798064"/>
            <a:ext cx="830088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3" name="Text 51"/>
          <p:cNvSpPr/>
          <p:nvPr/>
        </p:nvSpPr>
        <p:spPr>
          <a:xfrm>
            <a:off x="7916688" y="27432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49.07%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54880" y="3364992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3364992"/>
            <a:ext cx="32004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3364992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38928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40880" y="3547872"/>
            <a:ext cx="814863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9" name="Text 57"/>
          <p:cNvSpPr/>
          <p:nvPr/>
        </p:nvSpPr>
        <p:spPr>
          <a:xfrm>
            <a:off x="7901463" y="34930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48.17%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54880" y="41148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54880" y="4114800"/>
            <a:ext cx="32004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0" y="41148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38928" y="4224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040880" y="4297680"/>
            <a:ext cx="80133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5" name="Text 63"/>
          <p:cNvSpPr/>
          <p:nvPr/>
        </p:nvSpPr>
        <p:spPr>
          <a:xfrm>
            <a:off x="7887930" y="424281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ASSINANTES vs NÃO ASSINANTES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206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04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Não Assinantes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293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Clientes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514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$59,87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9809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Médio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566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R$ 170.436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4032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804672"/>
            <a:ext cx="420624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804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Assinantes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463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19293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Clientes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514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$59,49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0" y="29809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Médio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5204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566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R$ 62.645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46320" y="4032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médio praticamente igual ($59,87 vs $59,49) — não-assinantes geram 2,7× mais receita total pelo maior volume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CLIENTES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804672"/>
            <a:ext cx="3840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804672"/>
            <a:ext cx="109728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5120640" y="8778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Fiél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20640" y="1188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3.116 clientes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0" y="147218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5 compras anteriores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10789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79,9%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937760" y="2011680"/>
            <a:ext cx="3840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011680"/>
            <a:ext cx="109728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2084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20640" y="2395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clientes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20640" y="26791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2 e 5 compras anteriores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0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18,0%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937760" y="3218688"/>
            <a:ext cx="3840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3218688"/>
            <a:ext cx="109728" cy="10789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2918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6027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clientes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20640" y="3886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 compra anterior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46720" y="349300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2,1%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937760" y="4480560"/>
            <a:ext cx="3840480" cy="4114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Recorrentes: 2.518 sem assinatura vs 958 com assinatura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PRODUTOS POR CATEGORIA  |  RECEITA POR FAIXA ETÁRIA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Produtos por Categoria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1051560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15568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12070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81328" y="15361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87168" y="12070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Sunglasses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87168" y="15361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12070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93008" y="15361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75688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75688"/>
            <a:ext cx="1051560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75688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16712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24963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87168" y="216712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87168" y="24963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93008" y="216712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93008" y="24963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35808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35808"/>
            <a:ext cx="1051560" cy="8046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035808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81328" y="31272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81328" y="34564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87168" y="31272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87168" y="34564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31272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93008" y="34564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95928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995928"/>
            <a:ext cx="1051560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995928"/>
            <a:ext cx="1051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481328" y="408736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481328" y="441655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87168" y="408736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487168" y="441655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 por Faixa Etária</a:t>
            </a:r>
            <a:endParaRPr lang="en-US" sz="13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4663440" y="1051560"/>
          <a:ext cx="42976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 NEGÓCIO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4206240" cy="117043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41248"/>
            <a:ext cx="457200" cy="1170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41248"/>
            <a:ext cx="457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9326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Incentivar Assinaturas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2984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benefícios exclusivos para clientes assinantes, aumentando retenção e receita recorrente.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4206240" cy="117043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31136"/>
            <a:ext cx="457200" cy="1170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31136"/>
            <a:ext cx="457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322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de Fidelidade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8833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Recompensar compradores frequentes para migrá-los ao segmento de clientes fiéis.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4206240" cy="117043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621024"/>
            <a:ext cx="457200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21024"/>
            <a:ext cx="457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7124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Política de Descontos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07822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Equilibrar aumento de vendas com preservação de margens (Hat, Sneakers, Coat &gt;49% com desconto).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841248"/>
            <a:ext cx="4206240" cy="12984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841248"/>
            <a:ext cx="457200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841248"/>
            <a:ext cx="457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9326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de Produtos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12984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Destacar Gloves, Sandals e Boots (top avaliados) em campanhas promocionais.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231136"/>
            <a:ext cx="4206240" cy="12984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2231136"/>
            <a:ext cx="457200" cy="12984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231136"/>
            <a:ext cx="457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322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Direcionado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268833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Focar em Young Adults (R$62.143) e usuários de envio Express (ticket $60,48).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do Comportamento de Compras dos Clientes</dc:title>
  <dc:subject>PptxGenJS Presentation</dc:subject>
  <dc:creator>PptxGenJS</dc:creator>
  <cp:lastModifiedBy>PptxGenJS</cp:lastModifiedBy>
  <cp:revision>1</cp:revision>
  <dcterms:created xsi:type="dcterms:W3CDTF">2026-05-15T21:14:57Z</dcterms:created>
  <dcterms:modified xsi:type="dcterms:W3CDTF">2026-05-15T21:14:57Z</dcterms:modified>
</cp:coreProperties>
</file>